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46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62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37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83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67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35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67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28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8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50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57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C3F55-2B1D-4F4B-B9EA-D7EA8664E05D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44FCC-7A7C-418E-9FA3-E69A4F361B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03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fomadev@gmail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41946" y="818866"/>
            <a:ext cx="10148865" cy="4941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000" dirty="0" smtClean="0"/>
              <a:t>BridgeSQL v1.0</a:t>
            </a:r>
          </a:p>
          <a:p>
            <a:pPr algn="ctr"/>
            <a:r>
              <a:rPr lang="fr-FR" sz="2000" dirty="0" smtClean="0">
                <a:solidFill>
                  <a:schemeClr val="accent1"/>
                </a:solidFill>
              </a:rPr>
              <a:t>Manuel du Développeur PHP Moderne</a:t>
            </a:r>
          </a:p>
          <a:p>
            <a:pPr algn="ctr"/>
            <a:endParaRPr lang="en-US" dirty="0">
              <a:solidFill>
                <a:schemeClr val="accent1"/>
              </a:solidFill>
            </a:endParaRPr>
          </a:p>
          <a:p>
            <a:pPr algn="ctr"/>
            <a:endParaRPr lang="en-US" dirty="0" smtClean="0">
              <a:solidFill>
                <a:schemeClr val="accent1"/>
              </a:solidFill>
            </a:endParaRPr>
          </a:p>
          <a:p>
            <a:pPr algn="ctr"/>
            <a:endParaRPr lang="en-US" dirty="0" smtClean="0">
              <a:solidFill>
                <a:schemeClr val="accent1"/>
              </a:solidFill>
            </a:endParaRPr>
          </a:p>
          <a:p>
            <a:pPr algn="ctr"/>
            <a:endParaRPr lang="fr-FR" dirty="0" smtClean="0">
              <a:solidFill>
                <a:schemeClr val="accent1"/>
              </a:solidFill>
            </a:endParaRPr>
          </a:p>
          <a:p>
            <a:r>
              <a:rPr lang="fr-FR" dirty="0" smtClean="0"/>
              <a:t>Auteur : </a:t>
            </a:r>
            <a:r>
              <a:rPr lang="fr-FR" b="1" dirty="0" smtClean="0"/>
              <a:t>MOLENGO MALANDA FORDI</a:t>
            </a:r>
          </a:p>
          <a:p>
            <a:r>
              <a:rPr lang="fr-FR" dirty="0" smtClean="0"/>
              <a:t>Développé au sein de </a:t>
            </a:r>
            <a:r>
              <a:rPr lang="fr-FR" b="1" dirty="0" smtClean="0"/>
              <a:t>FomaDev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pPr algn="ctr"/>
            <a:r>
              <a:rPr lang="fr-FR" sz="2000" dirty="0" smtClean="0">
                <a:solidFill>
                  <a:schemeClr val="accent1"/>
                </a:solidFill>
              </a:rPr>
              <a:t>« Simplifiez PDO. Connectez. Exécutez. »</a:t>
            </a:r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Contact : </a:t>
            </a:r>
            <a:r>
              <a:rPr lang="fr-FR" dirty="0" smtClean="0"/>
              <a:t>fomadev0@gmail.com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3602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1355978" y="0"/>
            <a:ext cx="83602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493" y="5319060"/>
            <a:ext cx="1538940" cy="153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4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41946" y="1801504"/>
            <a:ext cx="1095005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Avant-propos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fr-FR" dirty="0" smtClean="0"/>
              <a:t>Ce projet est né d’un besoin simple : rendre la manipulation de PDO à la fois intuitive, sûre</a:t>
            </a:r>
          </a:p>
          <a:p>
            <a:r>
              <a:rPr lang="fr-FR" dirty="0" smtClean="0"/>
              <a:t>et extensible. BridgeSQL incarne cette vision — celle d’un outil pensé pour les</a:t>
            </a:r>
          </a:p>
          <a:p>
            <a:r>
              <a:rPr lang="fr-FR" dirty="0" smtClean="0"/>
              <a:t>développeurs, par un développeur. Il vise à offrir une expérience fluide entre PHP et les</a:t>
            </a:r>
          </a:p>
          <a:p>
            <a:r>
              <a:rPr lang="fr-FR" dirty="0" smtClean="0"/>
              <a:t>bases de données, tout en respectant les bonnes pratiques de l’ingénierie logicielle. Je</a:t>
            </a:r>
          </a:p>
          <a:p>
            <a:r>
              <a:rPr lang="fr-FR" dirty="0" smtClean="0"/>
              <a:t>dédie ce manuel à tous les passionnés de code qui cherchent à simplifier sans appauvrir,</a:t>
            </a:r>
          </a:p>
          <a:p>
            <a:r>
              <a:rPr lang="fr-FR" dirty="0" smtClean="0"/>
              <a:t>et à innover sans perdre de vue la clarté du développement. — </a:t>
            </a:r>
            <a:r>
              <a:rPr lang="fr-FR" b="1" dirty="0" smtClean="0"/>
              <a:t>Fordi Malanda</a:t>
            </a:r>
          </a:p>
          <a:p>
            <a:r>
              <a:rPr lang="fr-FR" dirty="0" smtClean="0"/>
              <a:t>Fondateur &amp; Développeur principal chez </a:t>
            </a:r>
            <a:r>
              <a:rPr lang="fr-FR" b="1" dirty="0" smtClean="0"/>
              <a:t>FomaDev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602116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4651" y="1187355"/>
            <a:ext cx="8346191" cy="4341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Table des matières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r>
              <a:rPr lang="fr-FR" dirty="0" smtClean="0"/>
              <a:t>1. Introduction à BridgeSQL</a:t>
            </a:r>
          </a:p>
          <a:p>
            <a:r>
              <a:rPr lang="fr-FR" dirty="0" smtClean="0"/>
              <a:t>2. Installation et configuration</a:t>
            </a:r>
          </a:p>
          <a:p>
            <a:r>
              <a:rPr lang="fr-FR" dirty="0" smtClean="0"/>
              <a:t>3. Démarrage rapide</a:t>
            </a:r>
          </a:p>
          <a:p>
            <a:r>
              <a:rPr lang="fr-FR" dirty="0" smtClean="0"/>
              <a:t>4. Architecture et principes internes</a:t>
            </a:r>
          </a:p>
          <a:p>
            <a:r>
              <a:rPr lang="fr-FR" dirty="0" smtClean="0"/>
              <a:t>5. Les méthodes principales</a:t>
            </a:r>
          </a:p>
          <a:p>
            <a:r>
              <a:rPr lang="fr-FR" dirty="0" smtClean="0"/>
              <a:t>6. Gestion des erreurs</a:t>
            </a:r>
          </a:p>
          <a:p>
            <a:r>
              <a:rPr lang="fr-FR" dirty="0" smtClean="0"/>
              <a:t>7. Transactions et intégrité des données</a:t>
            </a:r>
          </a:p>
          <a:p>
            <a:r>
              <a:rPr lang="fr-FR" dirty="0" smtClean="0"/>
              <a:t>8. Accès direct à PDO (avancé)</a:t>
            </a:r>
          </a:p>
          <a:p>
            <a:r>
              <a:rPr lang="fr-FR" dirty="0" smtClean="0"/>
              <a:t>9. Bonnes pratiques et organisation du code</a:t>
            </a:r>
          </a:p>
          <a:p>
            <a:r>
              <a:rPr lang="fr-FR" dirty="0" smtClean="0"/>
              <a:t>10. Roadmap, contribution et conclusion</a:t>
            </a:r>
          </a:p>
          <a:p>
            <a:r>
              <a:rPr lang="fr-FR" dirty="0" smtClean="0"/>
              <a:t>Annexe – À propos de FomaDev</a:t>
            </a:r>
          </a:p>
          <a:p>
            <a:r>
              <a:rPr lang="fr-FR" dirty="0" smtClean="0"/>
              <a:t>Licence MIT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86019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8300" y="1787856"/>
            <a:ext cx="8338780" cy="1771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1 — Introduction à BridgeSQL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pPr marL="177800"/>
            <a:r>
              <a:rPr lang="fr-FR" b="1" dirty="0" smtClean="0"/>
              <a:t>BridgeSQL</a:t>
            </a:r>
            <a:r>
              <a:rPr lang="fr-FR" dirty="0" smtClean="0"/>
              <a:t> est une bibliothèque PHP moderne conçue pour simplifier </a:t>
            </a:r>
            <a:r>
              <a:rPr lang="fr-FR" b="1" dirty="0" smtClean="0"/>
              <a:t>PDO</a:t>
            </a:r>
            <a:r>
              <a:rPr lang="fr-FR" dirty="0" smtClean="0"/>
              <a:t>. Elle offre un pont entre </a:t>
            </a:r>
            <a:r>
              <a:rPr lang="fr-FR" b="1" dirty="0" smtClean="0"/>
              <a:t>PHP</a:t>
            </a:r>
            <a:r>
              <a:rPr lang="fr-FR" dirty="0" smtClean="0"/>
              <a:t> et les </a:t>
            </a:r>
            <a:r>
              <a:rPr lang="fr-FR" b="1" dirty="0" smtClean="0"/>
              <a:t>SGBD</a:t>
            </a:r>
            <a:r>
              <a:rPr lang="fr-FR" dirty="0" smtClean="0"/>
              <a:t>, à commencer par </a:t>
            </a:r>
            <a:r>
              <a:rPr lang="fr-FR" dirty="0" smtClean="0">
                <a:solidFill>
                  <a:schemeClr val="accent1"/>
                </a:solidFill>
              </a:rPr>
              <a:t>MySQL</a:t>
            </a:r>
            <a:r>
              <a:rPr lang="fr-FR" dirty="0" smtClean="0"/>
              <a:t>. La version 1.0 met l’accent sur la clarté, la stabilité.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415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41946" y="1787857"/>
            <a:ext cx="857079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2 — Installation et configuration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r>
              <a:rPr lang="fr-FR" dirty="0" smtClean="0"/>
              <a:t>L’installation se fait via Composer : </a:t>
            </a:r>
            <a:r>
              <a:rPr lang="fr-FR" i="1" dirty="0" smtClean="0">
                <a:solidFill>
                  <a:schemeClr val="accent1"/>
                </a:solidFill>
              </a:rPr>
              <a:t>composer require fomadev/</a:t>
            </a:r>
            <a:r>
              <a:rPr lang="fr-FR" i="1" dirty="0" err="1" smtClean="0">
                <a:solidFill>
                  <a:schemeClr val="accent1"/>
                </a:solidFill>
              </a:rPr>
              <a:t>bridgesql</a:t>
            </a:r>
            <a:r>
              <a:rPr lang="fr-FR" i="1" dirty="0" smtClean="0">
                <a:solidFill>
                  <a:schemeClr val="accent1"/>
                </a:solidFill>
              </a:rPr>
              <a:t>  </a:t>
            </a:r>
            <a:r>
              <a:rPr lang="fr-FR" dirty="0" smtClean="0"/>
              <a:t>BridgeSQL</a:t>
            </a:r>
          </a:p>
          <a:p>
            <a:r>
              <a:rPr lang="fr-FR" dirty="0" smtClean="0"/>
              <a:t>nécessite PHP 8.0+ et l’extension </a:t>
            </a:r>
            <a:r>
              <a:rPr lang="fr-FR" dirty="0" smtClean="0">
                <a:solidFill>
                  <a:schemeClr val="accent1"/>
                </a:solidFill>
              </a:rPr>
              <a:t>pdo_mysql</a:t>
            </a:r>
            <a:r>
              <a:rPr lang="fr-FR" dirty="0" smtClean="0"/>
              <a:t>. Une fois installé, importez simplement</a:t>
            </a:r>
          </a:p>
          <a:p>
            <a:r>
              <a:rPr lang="fr-FR" dirty="0" smtClean="0"/>
              <a:t>l’autoloader de Composer.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558352" y="2680409"/>
            <a:ext cx="3493827" cy="2866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9437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5594" y="723330"/>
            <a:ext cx="788840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3 — Démarrage rapide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r>
              <a:rPr lang="fr-FR" u="sng" dirty="0" smtClean="0"/>
              <a:t>Exemple d’utilisation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801" y="1940790"/>
            <a:ext cx="8558874" cy="44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082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5594" y="1637731"/>
            <a:ext cx="788840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4 — Architecture et principes internes</a:t>
            </a:r>
          </a:p>
          <a:p>
            <a:endParaRPr lang="fr-FR" dirty="0" smtClean="0"/>
          </a:p>
          <a:p>
            <a:r>
              <a:rPr lang="fr-FR" dirty="0" smtClean="0"/>
              <a:t>Le cœur du projet repose sur une classe unique </a:t>
            </a:r>
            <a:r>
              <a:rPr lang="fr-FR" sz="1900" b="1" dirty="0" smtClean="0"/>
              <a:t>BridgeSQL</a:t>
            </a:r>
            <a:r>
              <a:rPr lang="fr-FR" dirty="0" smtClean="0"/>
              <a:t> qui encapsule </a:t>
            </a:r>
            <a:r>
              <a:rPr lang="fr-FR" dirty="0" smtClean="0">
                <a:solidFill>
                  <a:schemeClr val="accent1"/>
                </a:solidFill>
              </a:rPr>
              <a:t>PDO</a:t>
            </a:r>
            <a:r>
              <a:rPr lang="fr-FR" dirty="0" smtClean="0"/>
              <a:t>, et une classe d’exception personnalisée </a:t>
            </a:r>
            <a:r>
              <a:rPr lang="fr-FR" sz="1900" b="1" dirty="0" err="1" smtClean="0"/>
              <a:t>BridgeSQLException</a:t>
            </a:r>
            <a:r>
              <a:rPr lang="fr-FR" dirty="0" smtClean="0"/>
              <a:t> pour la gestion des erreurs. La structure est minimaliste et extensible.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100714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8299" y="1815152"/>
            <a:ext cx="791570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5 — Les méthodes principales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r>
              <a:rPr lang="fr-FR" b="1" dirty="0" smtClean="0"/>
              <a:t>BridgeSQL</a:t>
            </a:r>
            <a:r>
              <a:rPr lang="fr-FR" dirty="0" smtClean="0"/>
              <a:t> propose : 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fetch</a:t>
            </a:r>
            <a:r>
              <a:rPr lang="fr-FR" dirty="0" smtClean="0"/>
              <a:t>() : retourne une ligne ; 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fetchAll</a:t>
            </a:r>
            <a:r>
              <a:rPr lang="fr-FR" dirty="0" smtClean="0"/>
              <a:t>() : retourne toutes les lignes ;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execute</a:t>
            </a:r>
            <a:r>
              <a:rPr lang="fr-FR" dirty="0" smtClean="0"/>
              <a:t>() : exécute une requête d’écriture ; 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begin</a:t>
            </a:r>
            <a:r>
              <a:rPr lang="fr-FR" sz="2000" dirty="0" err="1">
                <a:solidFill>
                  <a:schemeClr val="accent1"/>
                </a:solidFill>
              </a:rPr>
              <a:t>execute</a:t>
            </a:r>
            <a:r>
              <a:rPr lang="fr-FR" sz="2000" dirty="0" err="1" smtClean="0">
                <a:solidFill>
                  <a:schemeClr val="accent1"/>
                </a:solidFill>
              </a:rPr>
              <a:t>Transaction</a:t>
            </a:r>
            <a:r>
              <a:rPr lang="fr-FR" dirty="0" smtClean="0"/>
              <a:t>()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smtClean="0">
                <a:solidFill>
                  <a:schemeClr val="accent1"/>
                </a:solidFill>
              </a:rPr>
              <a:t>commit</a:t>
            </a:r>
            <a:r>
              <a:rPr lang="fr-FR" dirty="0" smtClean="0"/>
              <a:t>()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rollBack</a:t>
            </a:r>
            <a:r>
              <a:rPr lang="fr-FR" dirty="0" smtClean="0"/>
              <a:t>() 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sz="2000" dirty="0" err="1" smtClean="0">
                <a:solidFill>
                  <a:schemeClr val="accent1"/>
                </a:solidFill>
              </a:rPr>
              <a:t>lastInsertId</a:t>
            </a:r>
            <a:r>
              <a:rPr lang="fr-FR" dirty="0" smtClean="0"/>
              <a:t>().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60858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1946" y="1787857"/>
            <a:ext cx="7902054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6 — Gestion des erreurs</a:t>
            </a:r>
          </a:p>
          <a:p>
            <a:endParaRPr lang="fr-FR" dirty="0" smtClean="0"/>
          </a:p>
          <a:p>
            <a:r>
              <a:rPr lang="fr-FR" dirty="0" smtClean="0"/>
              <a:t>Toutes les erreurs SQL sont capturées par </a:t>
            </a:r>
            <a:r>
              <a:rPr lang="fr-FR" sz="1900" dirty="0" err="1" smtClean="0">
                <a:solidFill>
                  <a:schemeClr val="accent1"/>
                </a:solidFill>
              </a:rPr>
              <a:t>BridgeSQLException</a:t>
            </a:r>
            <a:r>
              <a:rPr lang="fr-FR" dirty="0" smtClean="0"/>
              <a:t>.</a:t>
            </a:r>
          </a:p>
          <a:p>
            <a:r>
              <a:rPr lang="fr-FR" dirty="0" smtClean="0"/>
              <a:t>Les exceptions permettent de gérer proprement les anomalies d’exécution et de journaliser les problèmes.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97367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1946" y="1787857"/>
            <a:ext cx="790205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7 — Transactions et intégrité des données </a:t>
            </a:r>
          </a:p>
          <a:p>
            <a:endParaRPr lang="fr-FR" dirty="0" smtClean="0"/>
          </a:p>
          <a:p>
            <a:r>
              <a:rPr lang="fr-FR" b="1" dirty="0" smtClean="0"/>
              <a:t>BridgeSQL</a:t>
            </a:r>
            <a:r>
              <a:rPr lang="fr-FR" dirty="0" smtClean="0"/>
              <a:t> gère les transactions via trois méthodes : 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dirty="0" err="1" smtClean="0">
                <a:solidFill>
                  <a:schemeClr val="accent1"/>
                </a:solidFill>
              </a:rPr>
              <a:t>beginTransaction</a:t>
            </a:r>
            <a:r>
              <a:rPr lang="fr-FR" dirty="0" smtClean="0"/>
              <a:t>()</a:t>
            </a:r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dirty="0" smtClean="0">
                <a:solidFill>
                  <a:schemeClr val="accent1"/>
                </a:solidFill>
              </a:rPr>
              <a:t>commit</a:t>
            </a:r>
            <a:r>
              <a:rPr lang="fr-FR" dirty="0" smtClean="0"/>
              <a:t>()</a:t>
            </a:r>
            <a:r>
              <a:rPr lang="fr-FR" dirty="0"/>
              <a:t>	</a:t>
            </a:r>
            <a:endParaRPr lang="fr-FR" dirty="0" smtClean="0"/>
          </a:p>
          <a:p>
            <a:r>
              <a:rPr lang="fr-FR" dirty="0"/>
              <a:t>	</a:t>
            </a:r>
            <a:r>
              <a:rPr lang="fr-FR" dirty="0" smtClean="0"/>
              <a:t>- </a:t>
            </a:r>
            <a:r>
              <a:rPr lang="fr-FR" dirty="0" err="1" smtClean="0">
                <a:solidFill>
                  <a:schemeClr val="accent1"/>
                </a:solidFill>
              </a:rPr>
              <a:t>rollBack</a:t>
            </a:r>
            <a:r>
              <a:rPr lang="fr-FR" dirty="0" smtClean="0"/>
              <a:t>()</a:t>
            </a:r>
          </a:p>
          <a:p>
            <a:r>
              <a:rPr lang="fr-FR" dirty="0" smtClean="0"/>
              <a:t>Idéal pour les opérations bancaires, e-commerce, etc.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19563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1946" y="1787857"/>
            <a:ext cx="790205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8 — Accès direct à PDO (avancé)</a:t>
            </a:r>
          </a:p>
          <a:p>
            <a:endParaRPr lang="fr-FR" dirty="0" smtClean="0"/>
          </a:p>
          <a:p>
            <a:r>
              <a:rPr lang="fr-FR" b="1" dirty="0" smtClean="0"/>
              <a:t>BridgeSQL</a:t>
            </a:r>
            <a:r>
              <a:rPr lang="fr-FR" dirty="0" smtClean="0"/>
              <a:t> reste fidèle à PDO : la méthode </a:t>
            </a:r>
            <a:r>
              <a:rPr lang="fr-FR" dirty="0" err="1" smtClean="0">
                <a:solidFill>
                  <a:schemeClr val="accent1"/>
                </a:solidFill>
              </a:rPr>
              <a:t>getPdo</a:t>
            </a:r>
            <a:r>
              <a:rPr lang="fr-FR" dirty="0" smtClean="0"/>
              <a:t>() retourne l’objet PDO natif. Cela</a:t>
            </a:r>
          </a:p>
          <a:p>
            <a:r>
              <a:rPr lang="fr-FR" dirty="0" smtClean="0"/>
              <a:t>permet d’exécuter des requêtes avancées non couvertes par les méthodes simplifiées.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06293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1946" y="1801504"/>
            <a:ext cx="928047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9 — Bonnes pratiques et organisation du code</a:t>
            </a:r>
          </a:p>
          <a:p>
            <a:endParaRPr lang="fr-FR" dirty="0" smtClean="0"/>
          </a:p>
          <a:p>
            <a:r>
              <a:rPr lang="fr-FR" dirty="0" smtClean="0"/>
              <a:t>Toujours séparer la logique métier et la logique SQL. Centralisez vos connexions, utilisez</a:t>
            </a:r>
          </a:p>
          <a:p>
            <a:r>
              <a:rPr lang="fr-FR" dirty="0" smtClean="0"/>
              <a:t>un fichier </a:t>
            </a:r>
            <a:r>
              <a:rPr lang="fr-FR" dirty="0" smtClean="0">
                <a:solidFill>
                  <a:schemeClr val="accent1"/>
                </a:solidFill>
              </a:rPr>
              <a:t>.</a:t>
            </a:r>
            <a:r>
              <a:rPr lang="fr-FR" dirty="0" err="1" smtClean="0">
                <a:solidFill>
                  <a:schemeClr val="accent1"/>
                </a:solidFill>
              </a:rPr>
              <a:t>env</a:t>
            </a:r>
            <a:r>
              <a:rPr lang="fr-FR" dirty="0" smtClean="0">
                <a:solidFill>
                  <a:schemeClr val="accent1"/>
                </a:solidFill>
              </a:rPr>
              <a:t> </a:t>
            </a:r>
            <a:r>
              <a:rPr lang="fr-FR" dirty="0" smtClean="0"/>
              <a:t>et manipulez les exceptions avec soin.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48291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594" y="1801504"/>
            <a:ext cx="7888406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Chapitre 10 — Roadmap, contribution et conclusion</a:t>
            </a:r>
          </a:p>
          <a:p>
            <a:endParaRPr lang="fr-FR" dirty="0" smtClean="0"/>
          </a:p>
          <a:p>
            <a:r>
              <a:rPr lang="fr-FR" dirty="0" smtClean="0"/>
              <a:t>Les prochaines versions incluront le support PostgreSQL et </a:t>
            </a:r>
            <a:r>
              <a:rPr lang="fr-FR" dirty="0" err="1" smtClean="0"/>
              <a:t>SQLite</a:t>
            </a:r>
            <a:r>
              <a:rPr lang="fr-FR" dirty="0" smtClean="0"/>
              <a:t>, un </a:t>
            </a:r>
            <a:r>
              <a:rPr lang="fr-FR" dirty="0" err="1" smtClean="0"/>
              <a:t>Query</a:t>
            </a:r>
            <a:r>
              <a:rPr lang="fr-FR" dirty="0" smtClean="0"/>
              <a:t> </a:t>
            </a:r>
            <a:r>
              <a:rPr lang="fr-FR" dirty="0" err="1" smtClean="0"/>
              <a:t>Builder</a:t>
            </a:r>
            <a:r>
              <a:rPr lang="fr-FR" dirty="0"/>
              <a:t> </a:t>
            </a:r>
            <a:r>
              <a:rPr lang="fr-FR" dirty="0" smtClean="0"/>
              <a:t>léger et un ORM minimal.</a:t>
            </a:r>
          </a:p>
          <a:p>
            <a:r>
              <a:rPr lang="fr-FR" b="1" dirty="0" smtClean="0"/>
              <a:t>BridgeSQL</a:t>
            </a:r>
            <a:r>
              <a:rPr lang="fr-FR" dirty="0" smtClean="0"/>
              <a:t> vise à devenir une base solide pour tout projet PHP</a:t>
            </a:r>
          </a:p>
          <a:p>
            <a:r>
              <a:rPr lang="fr-FR" dirty="0" smtClean="0"/>
              <a:t>moderne.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8304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4651" y="1774209"/>
            <a:ext cx="7929349" cy="1658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Annexe — À propos de FomaDev</a:t>
            </a:r>
          </a:p>
          <a:p>
            <a:endParaRPr lang="fr-FR" dirty="0" smtClean="0"/>
          </a:p>
          <a:p>
            <a:r>
              <a:rPr lang="fr-FR" dirty="0" smtClean="0"/>
              <a:t>FomaDev est une startup spécialisée dans la conception de systèmes informatiques</a:t>
            </a:r>
          </a:p>
          <a:p>
            <a:r>
              <a:rPr lang="fr-FR" dirty="0" smtClean="0"/>
              <a:t>performants. Sa philosophie : innover avec clarté et rigueur. Contact :</a:t>
            </a:r>
          </a:p>
          <a:p>
            <a:r>
              <a:rPr lang="fr-FR" dirty="0" smtClean="0">
                <a:hlinkClick r:id="rId2"/>
              </a:rPr>
              <a:t>fomadev0@gmail.com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850" y="3159456"/>
            <a:ext cx="3698544" cy="369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1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593" y="1801504"/>
            <a:ext cx="1000380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</a:rPr>
              <a:t>Licence MIT</a:t>
            </a:r>
          </a:p>
          <a:p>
            <a:endParaRPr lang="fr-FR" dirty="0" smtClean="0"/>
          </a:p>
          <a:p>
            <a:r>
              <a:rPr lang="fr-FR" dirty="0" smtClean="0"/>
              <a:t>Copyright (c) 2025 FomaDev Permission est accordée, gratuitement, à toute personne obtenant une copie de ce logiciel de l’utiliser, le modifier et le distribuer sous réserve de conserver cet avis de licence. LE LOGICIEL EST FOURNI « TEL QUEL », SANS GARANTIE D’AUCUNE SORTE.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143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581</Words>
  <Application>Microsoft Office PowerPoint</Application>
  <PresentationFormat>Grand écran</PresentationFormat>
  <Paragraphs>95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12</cp:revision>
  <dcterms:created xsi:type="dcterms:W3CDTF">2025-12-29T13:06:46Z</dcterms:created>
  <dcterms:modified xsi:type="dcterms:W3CDTF">2025-12-31T22:08:00Z</dcterms:modified>
</cp:coreProperties>
</file>